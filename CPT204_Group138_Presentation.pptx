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ackground_tex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0080"/>
            <a:ext cx="3200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18C6C8"/>
                </a:solidFill>
                <a:latin typeface="Aptos"/>
              </a:rPr>
              <a:t>CPT204 GROUP</a:t>
            </a:r>
            <a:r>
              <a:rPr lang="en-US" sz="1400" b="1" dirty="0">
                <a:solidFill>
                  <a:srgbClr val="18C6C8"/>
                </a:solidFill>
                <a:latin typeface="Aptos"/>
              </a:rPr>
              <a:t>-138</a:t>
            </a:r>
            <a:r>
              <a:rPr sz="1400" b="1" dirty="0">
                <a:solidFill>
                  <a:srgbClr val="18C6C8"/>
                </a:solidFill>
                <a:latin typeface="Aptos"/>
              </a:rPr>
              <a:t>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5943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1" dirty="0">
                <a:solidFill>
                  <a:srgbClr val="FFFFFF"/>
                </a:solidFill>
                <a:latin typeface="Aptos Display"/>
              </a:rPr>
              <a:t>Urban Infrastructure
Inspection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06324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 dirty="0">
                <a:solidFill>
                  <a:srgbClr val="DCEBF2"/>
                </a:solidFill>
                <a:latin typeface="Aptos"/>
              </a:rPr>
              <a:t>CPT204 Group Project · AY 2025–26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584448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91B9C8"/>
                </a:solidFill>
                <a:latin typeface="Aptos"/>
              </a:rPr>
              <a:t>Smart City · Data Processing · Graph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715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AECAD6"/>
                </a:solidFill>
                <a:latin typeface="Aptos"/>
              </a:rPr>
              <a:t>21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6053328"/>
            <a:ext cx="384048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>
                <a:solidFill>
                  <a:srgbClr val="EBF5F8"/>
                </a:solidFill>
                <a:latin typeface="Aptos"/>
              </a:rPr>
              <a:t>Zifan Wang · 2362457</a:t>
            </a:r>
          </a:p>
          <a:p>
            <a:pPr algn="l"/>
            <a:r>
              <a:rPr sz="1320" b="1">
                <a:solidFill>
                  <a:srgbClr val="EBF5F8"/>
                </a:solidFill>
                <a:latin typeface="Aptos"/>
              </a:rPr>
              <a:t>Yuanhao Cheng · 2362404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_overview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2915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38912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A0BECA"/>
                </a:solidFill>
                <a:latin typeface="Aptos"/>
              </a:rPr>
              <a:t>A five-step roadmap of the 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261872"/>
            <a:ext cx="1417320" cy="41148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121408" cy="1993392"/>
          </a:xfrm>
          <a:prstGeom prst="roundRect">
            <a:avLst/>
          </a:prstGeom>
          <a:solidFill>
            <a:srgbClr val="0E2133"/>
          </a:solidFill>
          <a:ln w="15240">
            <a:solidFill>
              <a:srgbClr val="30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217627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C6C8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670048"/>
            <a:ext cx="18653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Project
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343" y="3504405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B2CDD7"/>
                </a:solidFill>
                <a:latin typeface="Aptos"/>
              </a:rPr>
              <a:t>Project scope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" y="3621024"/>
            <a:ext cx="146304" cy="146304"/>
          </a:xfrm>
          <a:prstGeom prst="ellipse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" y="3694176"/>
            <a:ext cx="1682495" cy="27432"/>
          </a:xfrm>
          <a:prstGeom prst="rect">
            <a:avLst/>
          </a:prstGeom>
          <a:solidFill>
            <a:srgbClr val="2E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25496" y="2011680"/>
            <a:ext cx="2121408" cy="1993392"/>
          </a:xfrm>
          <a:prstGeom prst="roundRect">
            <a:avLst/>
          </a:prstGeom>
          <a:solidFill>
            <a:srgbClr val="0E2133"/>
          </a:solidFill>
          <a:ln w="15240">
            <a:solidFill>
              <a:srgbClr val="30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217627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C6C8"/>
                </a:solidFill>
                <a:latin typeface="Aptos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670048"/>
            <a:ext cx="18653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Task A —
Sorting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8" y="3499866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B2CDD7"/>
                </a:solidFill>
                <a:latin typeface="Aptos"/>
              </a:rPr>
              <a:t>Top-10 ranking</a:t>
            </a:r>
          </a:p>
        </p:txBody>
      </p:sp>
      <p:sp>
        <p:nvSpPr>
          <p:cNvPr id="18" name="Oval 17"/>
          <p:cNvSpPr/>
          <p:nvPr/>
        </p:nvSpPr>
        <p:spPr>
          <a:xfrm>
            <a:off x="2953512" y="3621024"/>
            <a:ext cx="146304" cy="146304"/>
          </a:xfrm>
          <a:prstGeom prst="ellipse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36391" y="3694176"/>
            <a:ext cx="1682495" cy="27432"/>
          </a:xfrm>
          <a:prstGeom prst="rect">
            <a:avLst/>
          </a:prstGeom>
          <a:solidFill>
            <a:srgbClr val="2E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48072" y="2011680"/>
            <a:ext cx="2121408" cy="1993392"/>
          </a:xfrm>
          <a:prstGeom prst="roundRect">
            <a:avLst/>
          </a:prstGeom>
          <a:solidFill>
            <a:srgbClr val="0E2133"/>
          </a:solidFill>
          <a:ln w="15240">
            <a:solidFill>
              <a:srgbClr val="30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76088" y="217627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C6C8"/>
                </a:solidFill>
                <a:latin typeface="Apto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670048"/>
            <a:ext cx="18653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Task B —
Graph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5" y="3518055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B2CDD7"/>
                </a:solidFill>
                <a:latin typeface="Aptos"/>
              </a:rPr>
              <a:t>Shortest paths</a:t>
            </a:r>
          </a:p>
        </p:txBody>
      </p:sp>
      <p:sp>
        <p:nvSpPr>
          <p:cNvPr id="25" name="Oval 24"/>
          <p:cNvSpPr/>
          <p:nvPr/>
        </p:nvSpPr>
        <p:spPr>
          <a:xfrm>
            <a:off x="5276088" y="3621024"/>
            <a:ext cx="146304" cy="146304"/>
          </a:xfrm>
          <a:prstGeom prst="ellipse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58968" y="3694176"/>
            <a:ext cx="1682495" cy="27432"/>
          </a:xfrm>
          <a:prstGeom prst="rect">
            <a:avLst/>
          </a:prstGeom>
          <a:solidFill>
            <a:srgbClr val="2E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70648" y="2011680"/>
            <a:ext cx="2121408" cy="1993392"/>
          </a:xfrm>
          <a:prstGeom prst="roundRect">
            <a:avLst/>
          </a:prstGeom>
          <a:solidFill>
            <a:srgbClr val="0E2133"/>
          </a:solidFill>
          <a:ln w="15240">
            <a:solidFill>
              <a:srgbClr val="30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98664" y="217627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C6C8"/>
                </a:solidFill>
                <a:latin typeface="Aptos Display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2670048"/>
            <a:ext cx="18653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Task C —
OOP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1" y="3492843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B2CDD7"/>
                </a:solidFill>
                <a:latin typeface="Aptos"/>
              </a:rPr>
              <a:t>Application design</a:t>
            </a:r>
          </a:p>
        </p:txBody>
      </p:sp>
      <p:sp>
        <p:nvSpPr>
          <p:cNvPr id="32" name="Oval 31"/>
          <p:cNvSpPr/>
          <p:nvPr/>
        </p:nvSpPr>
        <p:spPr>
          <a:xfrm>
            <a:off x="7598664" y="3621024"/>
            <a:ext cx="146304" cy="146304"/>
          </a:xfrm>
          <a:prstGeom prst="ellipse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81544" y="3694176"/>
            <a:ext cx="1682495" cy="27432"/>
          </a:xfrm>
          <a:prstGeom prst="rect">
            <a:avLst/>
          </a:prstGeom>
          <a:solidFill>
            <a:srgbClr val="2E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793224" y="2011680"/>
            <a:ext cx="2121408" cy="1993392"/>
          </a:xfrm>
          <a:prstGeom prst="roundRect">
            <a:avLst/>
          </a:prstGeom>
          <a:solidFill>
            <a:srgbClr val="0E2133"/>
          </a:solidFill>
          <a:ln w="15240">
            <a:solidFill>
              <a:srgbClr val="30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21240" y="217627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C6C8"/>
                </a:solidFill>
                <a:latin typeface="Aptos Display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2670048"/>
            <a:ext cx="18653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Analysis &amp;
Reflection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529584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B2CDD7"/>
                </a:solidFill>
                <a:latin typeface="Aptos"/>
              </a:rPr>
              <a:t>Team reflection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9921240" y="3621024"/>
            <a:ext cx="146304" cy="146304"/>
          </a:xfrm>
          <a:prstGeom prst="ellipse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104120" y="3694176"/>
            <a:ext cx="1682495" cy="27432"/>
          </a:xfrm>
          <a:prstGeom prst="rect">
            <a:avLst/>
          </a:prstGeom>
          <a:solidFill>
            <a:srgbClr val="2E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561320" y="619963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ultra_modern_sci_fi_digital_cityscape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6400800" cy="6858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795527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700" b="1">
                <a:solidFill>
                  <a:srgbClr val="EEF8FC"/>
                </a:solidFill>
                <a:latin typeface="Aptos Display"/>
              </a:rPr>
              <a:t>Project Introduction — Purpose, Data &amp;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68680"/>
            <a:ext cx="6583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A9C7D6"/>
                </a:solidFill>
                <a:latin typeface="Aptos"/>
              </a:rPr>
              <a:t>From candidate datasets to inspection route planning.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2770632"/>
            <a:ext cx="502919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89320" y="2770632"/>
            <a:ext cx="502920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32520" y="2770632"/>
            <a:ext cx="457200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1572768"/>
            <a:ext cx="2606040" cy="24231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1773936"/>
            <a:ext cx="231343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EEF8FC"/>
                </a:solidFill>
                <a:latin typeface="Aptos"/>
              </a:rPr>
              <a:t>Candidate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194560"/>
            <a:ext cx="2313432" cy="1673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A9C7D6"/>
                </a:solidFill>
                <a:latin typeface="Aptos"/>
              </a:rPr>
              <a:t>candidates_A/B/C.csv
1,000 locations per dataset
Goal: rank inspection targets.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572768"/>
            <a:ext cx="2240280" cy="24231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95344" y="1773936"/>
            <a:ext cx="194767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EEF8FC"/>
                </a:solidFill>
                <a:latin typeface="Aptos"/>
              </a:rPr>
              <a:t>Sorting &amp;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194560"/>
            <a:ext cx="1947672" cy="1673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A9C7D6"/>
                </a:solidFill>
                <a:latin typeface="Aptos"/>
              </a:rPr>
              <a:t>Ranking rule applied to all datasets.
Top 10 selected from each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572768"/>
            <a:ext cx="2240280" cy="24231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1773936"/>
            <a:ext cx="194767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EEF8FC"/>
                </a:solidFill>
                <a:latin typeface="Aptos"/>
              </a:rPr>
              <a:t>Weighted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194560"/>
            <a:ext cx="1947672" cy="1673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A9C7D6"/>
                </a:solidFill>
                <a:latin typeface="Aptos"/>
              </a:rPr>
              <a:t>paths.csv
~2,600 edges
~1,000 nodes
City infrastructure network.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572768"/>
            <a:ext cx="2240280" cy="24231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36024" y="1773936"/>
            <a:ext cx="194767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>
                <a:solidFill>
                  <a:srgbClr val="EEF8FC"/>
                </a:solidFill>
                <a:latin typeface="Aptos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2194560"/>
            <a:ext cx="1947672" cy="1673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A9C7D6"/>
                </a:solidFill>
                <a:latin typeface="Aptos"/>
              </a:rPr>
              <a:t>Top 10 × 3 datasets
30 selected targets
4 prescribed route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2633472"/>
            <a:ext cx="219456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1">
                <a:solidFill>
                  <a:srgbClr val="18C6C8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2633472"/>
            <a:ext cx="219456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1">
                <a:solidFill>
                  <a:srgbClr val="18C6C8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633472"/>
            <a:ext cx="219456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1">
                <a:solidFill>
                  <a:srgbClr val="18C6C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97680"/>
            <a:ext cx="5257800" cy="100584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4498848"/>
            <a:ext cx="496519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EEF8FC"/>
                </a:solidFill>
                <a:latin typeface="Aptos"/>
              </a:rPr>
              <a:t>System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919472"/>
            <a:ext cx="4965192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0">
                <a:solidFill>
                  <a:srgbClr val="A9C7D6"/>
                </a:solidFill>
                <a:latin typeface="Aptos"/>
              </a:rPr>
              <a:t>InspectionSystem.main()  →  Ranking  →  Location[3][10]  →  Routing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9768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EEF8FC"/>
                </a:solidFill>
                <a:latin typeface="Aptos"/>
              </a:rPr>
              <a:t>Dataset Profiles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663440"/>
            <a:ext cx="1600200" cy="694944"/>
          </a:xfrm>
          <a:prstGeom prst="roundRect">
            <a:avLst/>
          </a:prstGeom>
          <a:solidFill>
            <a:srgbClr val="0C2032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2" y="4736592"/>
            <a:ext cx="1453896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30" b="0">
                <a:solidFill>
                  <a:srgbClr val="EEF8FC"/>
                </a:solidFill>
                <a:latin typeface="Aptos"/>
              </a:rPr>
              <a:t>A
Nearly sorted · 98.3%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4663440"/>
            <a:ext cx="1444752" cy="694944"/>
          </a:xfrm>
          <a:prstGeom prst="roundRect">
            <a:avLst/>
          </a:prstGeom>
          <a:solidFill>
            <a:srgbClr val="0C2032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1" y="4736592"/>
            <a:ext cx="1298448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30" b="0">
                <a:solidFill>
                  <a:srgbClr val="EEF8FC"/>
                </a:solidFill>
                <a:latin typeface="Aptos"/>
              </a:rPr>
              <a:t>B
Random order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7232" y="4663440"/>
            <a:ext cx="1572768" cy="694944"/>
          </a:xfrm>
          <a:prstGeom prst="roundRect">
            <a:avLst/>
          </a:prstGeom>
          <a:solidFill>
            <a:srgbClr val="0C2032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30384" y="4736592"/>
            <a:ext cx="1426464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EEF8FC"/>
                </a:solidFill>
                <a:latin typeface="Aptos"/>
              </a:rPr>
              <a:t>C
41 tie groups
ID tie-break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5650992"/>
            <a:ext cx="81381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40" b="0">
                <a:solidFill>
                  <a:srgbClr val="A9C7D6"/>
                </a:solidFill>
                <a:latin typeface="Aptos"/>
              </a:rPr>
              <a:t>Purpose: rank inspection targets, then plan shortest routes on a weighted city 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ultra_modern_sci_fi_digital_cityscape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795527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700" b="1">
                <a:solidFill>
                  <a:srgbClr val="EEF8FC"/>
                </a:solidFill>
                <a:latin typeface="Aptos Display"/>
              </a:rPr>
              <a:t>Task A — Selecting the Top 10 from Each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68680"/>
            <a:ext cx="6583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A9C7D6"/>
                </a:solidFill>
                <a:latin typeface="Aptos"/>
              </a:rPr>
              <a:t>Ranking workflow and sorting algorithm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96312" y="2496312"/>
            <a:ext cx="246888" cy="0"/>
          </a:xfrm>
          <a:prstGeom prst="line">
            <a:avLst/>
          </a:prstGeom>
          <a:ln w="2286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9160" y="2496312"/>
            <a:ext cx="246888" cy="0"/>
          </a:xfrm>
          <a:prstGeom prst="line">
            <a:avLst/>
          </a:prstGeom>
          <a:ln w="2286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22008" y="2496312"/>
            <a:ext cx="246888" cy="0"/>
          </a:xfrm>
          <a:prstGeom prst="line">
            <a:avLst/>
          </a:prstGeom>
          <a:ln w="2286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34856" y="2496312"/>
            <a:ext cx="246888" cy="0"/>
          </a:xfrm>
          <a:prstGeom prst="line">
            <a:avLst/>
          </a:prstGeom>
          <a:ln w="2286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0352" y="1965960"/>
            <a:ext cx="1965960" cy="107899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2167128"/>
            <a:ext cx="1673351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Dataset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587752"/>
            <a:ext cx="1673351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0">
                <a:solidFill>
                  <a:srgbClr val="A9C7D6"/>
                </a:solidFill>
                <a:latin typeface="Aptos"/>
              </a:rPr>
              <a:t>candidates_A/B/C.csv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965960"/>
            <a:ext cx="1965960" cy="107899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9504" y="2167128"/>
            <a:ext cx="1673351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Ranking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2587752"/>
            <a:ext cx="1673351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0" dirty="0" err="1">
                <a:solidFill>
                  <a:srgbClr val="A9C7D6"/>
                </a:solidFill>
                <a:latin typeface="Aptos"/>
              </a:rPr>
              <a:t>priority_score</a:t>
            </a:r>
            <a:r>
              <a:rPr sz="1019" b="0" dirty="0">
                <a:solidFill>
                  <a:srgbClr val="A9C7D6"/>
                </a:solidFill>
                <a:latin typeface="Aptos"/>
              </a:rPr>
              <a:t> ↓
</a:t>
            </a:r>
            <a:r>
              <a:rPr sz="1019" b="0" dirty="0" err="1">
                <a:solidFill>
                  <a:srgbClr val="A9C7D6"/>
                </a:solidFill>
                <a:latin typeface="Aptos"/>
              </a:rPr>
              <a:t>location_id</a:t>
            </a:r>
            <a:r>
              <a:rPr sz="1019" b="0" dirty="0">
                <a:solidFill>
                  <a:srgbClr val="A9C7D6"/>
                </a:solidFill>
                <a:latin typeface="Aptos"/>
              </a:rPr>
              <a:t> 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6048" y="1965960"/>
            <a:ext cx="1965960" cy="107899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02352" y="2167128"/>
            <a:ext cx="1673351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Sorting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587752"/>
            <a:ext cx="1673351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0">
                <a:solidFill>
                  <a:srgbClr val="A9C7D6"/>
                </a:solidFill>
                <a:latin typeface="Aptos"/>
              </a:rPr>
              <a:t>Bubble · Quick · Merge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8896" y="1965960"/>
            <a:ext cx="1965960" cy="107899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0" y="2167128"/>
            <a:ext cx="1673351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Top 10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587752"/>
            <a:ext cx="1673351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0">
                <a:solidFill>
                  <a:srgbClr val="A9C7D6"/>
                </a:solidFill>
                <a:latin typeface="Aptos"/>
              </a:rPr>
              <a:t>Top 10 × 3 datasets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1744" y="1965960"/>
            <a:ext cx="1965960" cy="107899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28048" y="2167128"/>
            <a:ext cx="1673351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Task B Targets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2587752"/>
            <a:ext cx="1673351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19" b="0">
                <a:solidFill>
                  <a:srgbClr val="A9C7D6"/>
                </a:solidFill>
                <a:latin typeface="Aptos"/>
              </a:rPr>
              <a:t>30 targets for routing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474720"/>
            <a:ext cx="3108960" cy="141732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3675887"/>
            <a:ext cx="281635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Ranking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096511"/>
            <a:ext cx="2816352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70" b="0">
                <a:solidFill>
                  <a:srgbClr val="A9C7D6"/>
                </a:solidFill>
                <a:latin typeface="Aptos"/>
              </a:rPr>
              <a:t>Location.compareTo()
1. Higher priority_score first
2. If tied: smaller location_id first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345643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EEF8FC"/>
                </a:solidFill>
                <a:latin typeface="Aptos"/>
              </a:rPr>
              <a:t>Algorithms Tested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528" y="3822191"/>
            <a:ext cx="1417320" cy="786384"/>
          </a:xfrm>
          <a:prstGeom prst="roundRect">
            <a:avLst/>
          </a:prstGeom>
          <a:solidFill>
            <a:srgbClr val="0C2032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97680" y="3895344"/>
            <a:ext cx="1271016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60" b="0">
                <a:solidFill>
                  <a:srgbClr val="EEF8FC"/>
                </a:solidFill>
                <a:latin typeface="Aptos"/>
              </a:rPr>
              <a:t>Bubble Sort
Simple · input-sensitive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24728" y="3822191"/>
            <a:ext cx="1417320" cy="786384"/>
          </a:xfrm>
          <a:prstGeom prst="roundRect">
            <a:avLst/>
          </a:prstGeom>
          <a:solidFill>
            <a:srgbClr val="0C2032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97880" y="3895344"/>
            <a:ext cx="1271016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0" b="0" dirty="0">
                <a:solidFill>
                  <a:srgbClr val="EEF8FC"/>
                </a:solidFill>
                <a:latin typeface="Aptos"/>
              </a:rPr>
              <a:t>Quick Sort
Fast average · pivot-sensitive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24927" y="3822191"/>
            <a:ext cx="1417320" cy="786384"/>
          </a:xfrm>
          <a:prstGeom prst="roundRect">
            <a:avLst/>
          </a:prstGeom>
          <a:solidFill>
            <a:srgbClr val="0C2032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79" y="3895344"/>
            <a:ext cx="1271016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 dirty="0">
                <a:solidFill>
                  <a:srgbClr val="EEF8FC"/>
                </a:solidFill>
                <a:latin typeface="Aptos"/>
              </a:rPr>
              <a:t>Merge Sort
Consistent O(n log 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3474720"/>
            <a:ext cx="2194560" cy="141732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36024" y="3675887"/>
            <a:ext cx="190195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40" b="1">
                <a:solidFill>
                  <a:srgbClr val="EEF8FC"/>
                </a:solidFill>
                <a:latin typeface="Aptos"/>
              </a:rPr>
              <a:t>Selection &amp; Choice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6024" y="4096511"/>
            <a:ext cx="1901952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80" b="0" dirty="0">
                <a:solidFill>
                  <a:srgbClr val="A9C7D6"/>
                </a:solidFill>
                <a:latin typeface="Aptos"/>
              </a:rPr>
              <a:t>Quick Sort on a fresh copy for Top 10 output.
Production: Merge Sort for consistent O(n log n) performance.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45168" y="5138928"/>
            <a:ext cx="1874519" cy="411480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0" y="5212080"/>
            <a:ext cx="1728216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EEF8FC"/>
                </a:solidFill>
                <a:latin typeface="Aptos"/>
              </a:rPr>
              <a:t>Recommended for production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742432"/>
            <a:ext cx="7589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40" b="0">
                <a:solidFill>
                  <a:srgbClr val="A9C7D6"/>
                </a:solidFill>
                <a:latin typeface="Aptos"/>
              </a:rPr>
              <a:t>The 30 selected targets become important nodes for graph route planning in Task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ultra_modern_sci_fi_digital_cityscape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795527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700" b="1">
                <a:solidFill>
                  <a:srgbClr val="EEF8FC"/>
                </a:solidFill>
                <a:latin typeface="Aptos Display"/>
              </a:rPr>
              <a:t>Task A — Timing Comparison &amp; Top 10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68680"/>
            <a:ext cx="6583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A9C7D6"/>
                </a:solidFill>
                <a:latin typeface="Aptos"/>
              </a:rPr>
              <a:t>Runtime results highlight how input order affects sorting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7452360" cy="443484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627632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50" b="1">
                <a:solidFill>
                  <a:srgbClr val="EEF8FC"/>
                </a:solidFill>
                <a:latin typeface="Aptos"/>
              </a:rPr>
              <a:t>Algorithm Runtime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27632"/>
            <a:ext cx="2148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80" b="0">
                <a:solidFill>
                  <a:srgbClr val="7CA7B7"/>
                </a:solidFill>
                <a:latin typeface="Aptos"/>
              </a:rPr>
              <a:t>Runtime in milliseconds (ms)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57400"/>
            <a:ext cx="658368" cy="502920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185416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4752" y="2057400"/>
            <a:ext cx="1444752" cy="502920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81328" y="2185416"/>
            <a:ext cx="13716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Input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9504" y="2057400"/>
            <a:ext cx="1078992" cy="502920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218541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Bubble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8496" y="2057400"/>
            <a:ext cx="1078992" cy="502920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05072" y="218541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Quick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7488" y="2057400"/>
            <a:ext cx="1078992" cy="502920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84064" y="218541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Merge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79" y="2057400"/>
            <a:ext cx="987552" cy="502920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63055" y="2185416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Fastest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2560320"/>
            <a:ext cx="658368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688336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EEF8FC"/>
                </a:solidFill>
                <a:latin typeface="Aptos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4752" y="2560320"/>
            <a:ext cx="144475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81328" y="2688336"/>
            <a:ext cx="13716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98.3% near sorted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9504" y="2560320"/>
            <a:ext cx="1078992" cy="502920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0" y="268833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0.421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8496" y="2560320"/>
            <a:ext cx="107899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05072" y="268833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7.710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47488" y="2560320"/>
            <a:ext cx="107899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84064" y="268833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0.787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9" y="2560320"/>
            <a:ext cx="987552" cy="502920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63055" y="2688336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Bubble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3063240"/>
            <a:ext cx="658368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3191256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EEF8FC"/>
                </a:solidFill>
                <a:latin typeface="Aptos"/>
              </a:rPr>
              <a:t>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44752" y="3063240"/>
            <a:ext cx="144475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81328" y="3191256"/>
            <a:ext cx="13716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Random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9504" y="3063240"/>
            <a:ext cx="107899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0" y="319125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13.076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68496" y="3063240"/>
            <a:ext cx="107899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05072" y="319125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1.871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47488" y="3063240"/>
            <a:ext cx="1078992" cy="502920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84064" y="319125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1.848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79" y="3063240"/>
            <a:ext cx="987552" cy="502920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63055" y="3191256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Merge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" y="3566160"/>
            <a:ext cx="658368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" y="3694176"/>
            <a:ext cx="585216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EEF8FC"/>
                </a:solidFill>
                <a:latin typeface="Aptos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44752" y="3566160"/>
            <a:ext cx="144475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81328" y="3694176"/>
            <a:ext cx="13716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41 tie groups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9504" y="3566160"/>
            <a:ext cx="107899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26080" y="369417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1.799 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68496" y="3566160"/>
            <a:ext cx="1078992" cy="502920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05072" y="369417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3.638 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47488" y="3566160"/>
            <a:ext cx="1078992" cy="502920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84064" y="3694176"/>
            <a:ext cx="1005839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0.298 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79" y="3566160"/>
            <a:ext cx="987552" cy="502920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63055" y="3694176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Merge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" y="4251960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EEF8FC"/>
                </a:solidFill>
                <a:latin typeface="Aptos"/>
              </a:rPr>
              <a:t>Fastest runtime by dataset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" y="4626864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1">
                <a:solidFill>
                  <a:srgbClr val="EEF8FC"/>
                </a:solidFill>
                <a:latin typeface="Aptos"/>
              </a:rPr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16152" y="4645152"/>
            <a:ext cx="2423160" cy="128016"/>
          </a:xfrm>
          <a:prstGeom prst="rect">
            <a:avLst/>
          </a:prstGeom>
          <a:solidFill>
            <a:srgbClr val="14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216152" y="4645152"/>
            <a:ext cx="510075" cy="128016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749039" y="4608576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80" b="0">
                <a:solidFill>
                  <a:srgbClr val="A9C7D6"/>
                </a:solidFill>
                <a:latin typeface="Aptos"/>
              </a:rPr>
              <a:t>Bubble · 0.421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" y="4956048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1">
                <a:solidFill>
                  <a:srgbClr val="EEF8FC"/>
                </a:solidFill>
                <a:latin typeface="Aptos"/>
              </a:rPr>
              <a:t>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16152" y="4974336"/>
            <a:ext cx="2423160" cy="128016"/>
          </a:xfrm>
          <a:prstGeom prst="rect">
            <a:avLst/>
          </a:prstGeom>
          <a:solidFill>
            <a:srgbClr val="14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216152" y="4974336"/>
            <a:ext cx="2238999" cy="128016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49039" y="4937760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80" b="0">
                <a:solidFill>
                  <a:srgbClr val="A9C7D6"/>
                </a:solidFill>
                <a:latin typeface="Aptos"/>
              </a:rPr>
              <a:t>Merge · 1.848 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" y="5285232"/>
            <a:ext cx="228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1">
                <a:solidFill>
                  <a:srgbClr val="EEF8FC"/>
                </a:solidFill>
                <a:latin typeface="Aptos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16152" y="5303520"/>
            <a:ext cx="2423160" cy="128016"/>
          </a:xfrm>
          <a:prstGeom prst="rect">
            <a:avLst/>
          </a:prstGeom>
          <a:solidFill>
            <a:srgbClr val="14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216152" y="5303520"/>
            <a:ext cx="361050" cy="128016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49039" y="5266944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80" b="0">
                <a:solidFill>
                  <a:srgbClr val="A9C7D6"/>
                </a:solidFill>
                <a:latin typeface="Aptos"/>
              </a:rPr>
              <a:t>Merge · 0.298 ms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02752" y="1417320"/>
            <a:ext cx="2971800" cy="117043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449056" y="1618488"/>
            <a:ext cx="267919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Main Finding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49056" y="2039112"/>
            <a:ext cx="2679192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0">
                <a:solidFill>
                  <a:srgbClr val="A9C7D6"/>
                </a:solidFill>
                <a:latin typeface="Aptos"/>
              </a:rPr>
              <a:t>A → Bubble Sort
B/C → Merge Sort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02752" y="2788920"/>
            <a:ext cx="2971800" cy="144475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9056" y="2990088"/>
            <a:ext cx="267919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Top 10 Output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9056" y="3410712"/>
            <a:ext cx="2679192" cy="694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60" b="0" dirty="0">
                <a:solidFill>
                  <a:srgbClr val="A9C7D6"/>
                </a:solidFill>
                <a:latin typeface="Aptos"/>
              </a:rPr>
              <a:t>Dataset A: L0001–L0010
Dataset B: L0101–L0110
Dataset C: L0201–L0210
Saved as: taskA_top30_targets.csv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302752" y="4443984"/>
            <a:ext cx="2971800" cy="107899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449056" y="4645152"/>
            <a:ext cx="267919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Insight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49056" y="5065776"/>
            <a:ext cx="2679192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40" b="0">
                <a:solidFill>
                  <a:srgbClr val="A9C7D6"/>
                </a:solidFill>
                <a:latin typeface="Aptos"/>
              </a:rPr>
              <a:t>Near-sorted input benefits Bubble Sort, while Merge Sort performs consistently across random and tie-heavy data.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230368" y="5522976"/>
            <a:ext cx="2331720" cy="384048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03520" y="5596128"/>
            <a:ext cx="2185415" cy="2560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19" b="0">
                <a:solidFill>
                  <a:srgbClr val="EEF8FC"/>
                </a:solidFill>
                <a:latin typeface="Aptos"/>
              </a:rPr>
              <a:t>Top 30 Targets ready for Task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_b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2600" b="1">
                <a:solidFill>
                  <a:srgbClr val="EEF8FC"/>
                </a:solidFill>
                <a:latin typeface="Aptos Display"/>
              </a:rPr>
              <a:t>Task B — Graph Build &amp; Shortest-Path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7223760" cy="23774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140" b="0">
                <a:solidFill>
                  <a:srgbClr val="A9C7D6"/>
                </a:solidFill>
                <a:latin typeface="Aptos"/>
              </a:rPr>
              <a:t>Weighted graph construction and bidirectional shortest-path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91440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3794760" cy="306324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82496"/>
            <a:ext cx="3502152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Graph Build &amp; Data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56816"/>
            <a:ext cx="3182112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040" b="0">
                <a:solidFill>
                  <a:srgbClr val="A9C7D6"/>
                </a:solidFill>
                <a:latin typeface="Aptos"/>
              </a:rPr>
              <a:t>Load paths.csv into an undirected weighted 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340864"/>
            <a:ext cx="2697480" cy="32918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4984" y="2395728"/>
            <a:ext cx="2587752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80" b="0">
                <a:solidFill>
                  <a:srgbClr val="EEF8FC"/>
                </a:solidFill>
                <a:latin typeface="Aptos"/>
              </a:rPr>
              <a:t>paths.csv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651760"/>
            <a:ext cx="1828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000" b="1">
                <a:solidFill>
                  <a:srgbClr val="18C6C8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871216"/>
            <a:ext cx="2697480" cy="32918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" y="2926080"/>
            <a:ext cx="2587752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80" b="1">
                <a:solidFill>
                  <a:srgbClr val="EEF8FC"/>
                </a:solidFill>
                <a:latin typeface="Aptos"/>
              </a:rPr>
              <a:t>Weighted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182112"/>
            <a:ext cx="1828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000" b="1">
                <a:solidFill>
                  <a:srgbClr val="18C6C8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401568"/>
            <a:ext cx="2697480" cy="32918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3456432"/>
            <a:ext cx="2587752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80" b="1">
                <a:solidFill>
                  <a:srgbClr val="EEF8FC"/>
                </a:solidFill>
                <a:latin typeface="Aptos"/>
              </a:rPr>
              <a:t>GraphIndex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712464"/>
            <a:ext cx="1828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000" b="1">
                <a:solidFill>
                  <a:srgbClr val="18C6C8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31920"/>
            <a:ext cx="2697480" cy="32918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4984" y="3986783"/>
            <a:ext cx="2587752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80" b="0">
                <a:solidFill>
                  <a:srgbClr val="EEF8FC"/>
                </a:solidFill>
                <a:latin typeface="Aptos"/>
              </a:rPr>
              <a:t>Fast neighbour 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325112"/>
            <a:ext cx="320040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880" b="0">
                <a:solidFill>
                  <a:srgbClr val="7CA7B7"/>
                </a:solidFill>
                <a:latin typeface="Aptos"/>
              </a:rPr>
              <a:t>~1,000 nodes · fast neighbour lookup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481328"/>
            <a:ext cx="6931152" cy="306324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9744" y="1682496"/>
            <a:ext cx="6638544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Bidirectional Dijkstra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4" y="1956816"/>
            <a:ext cx="438912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040" b="0">
                <a:solidFill>
                  <a:srgbClr val="A9C7D6"/>
                </a:solidFill>
                <a:latin typeface="Aptos"/>
              </a:rPr>
              <a:t>Search from both ends, then stop when frontiers meet.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477255" y="2551176"/>
            <a:ext cx="914400" cy="548640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77255" y="3099816"/>
            <a:ext cx="1874521" cy="182880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391655" y="2551176"/>
            <a:ext cx="1892809" cy="365760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351776" y="2916936"/>
            <a:ext cx="932688" cy="365760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84464" y="2414016"/>
            <a:ext cx="896112" cy="502920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84464" y="2916936"/>
            <a:ext cx="1792224" cy="338328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80576" y="2414016"/>
            <a:ext cx="1737360" cy="365760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076688" y="2779776"/>
            <a:ext cx="841248" cy="475488"/>
          </a:xfrm>
          <a:prstGeom prst="line">
            <a:avLst/>
          </a:prstGeom>
          <a:ln w="15240">
            <a:solidFill>
              <a:srgbClr val="37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15000" y="3858768"/>
            <a:ext cx="2039112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567928" y="3858768"/>
            <a:ext cx="1993392" cy="0"/>
          </a:xfrm>
          <a:prstGeom prst="line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06440" y="3657600"/>
            <a:ext cx="137160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40" b="1">
                <a:solidFill>
                  <a:srgbClr val="18C6C8"/>
                </a:solidFill>
                <a:latin typeface="Aptos"/>
              </a:rPr>
              <a:t>forward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657600"/>
            <a:ext cx="14173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40" b="1">
                <a:solidFill>
                  <a:srgbClr val="6C8CFF"/>
                </a:solidFill>
                <a:latin typeface="Aptos"/>
              </a:rPr>
              <a:t>backward search</a:t>
            </a:r>
          </a:p>
        </p:txBody>
      </p:sp>
      <p:sp>
        <p:nvSpPr>
          <p:cNvPr id="39" name="Oval 38"/>
          <p:cNvSpPr/>
          <p:nvPr/>
        </p:nvSpPr>
        <p:spPr>
          <a:xfrm>
            <a:off x="5349240" y="2971800"/>
            <a:ext cx="256032" cy="256032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59" y="3410712"/>
            <a:ext cx="1097280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Start</a:t>
            </a:r>
          </a:p>
        </p:txBody>
      </p:sp>
      <p:sp>
        <p:nvSpPr>
          <p:cNvPr id="41" name="Oval 40"/>
          <p:cNvSpPr/>
          <p:nvPr/>
        </p:nvSpPr>
        <p:spPr>
          <a:xfrm>
            <a:off x="6263640" y="2423160"/>
            <a:ext cx="182880" cy="182880"/>
          </a:xfrm>
          <a:prstGeom prst="ellipse">
            <a:avLst/>
          </a:prstGeom>
          <a:solidFill>
            <a:srgbClr val="7CA7B7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223760" y="3154680"/>
            <a:ext cx="182880" cy="182880"/>
          </a:xfrm>
          <a:prstGeom prst="ellipse">
            <a:avLst/>
          </a:prstGeom>
          <a:solidFill>
            <a:srgbClr val="7CA7B7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156448" y="2788920"/>
            <a:ext cx="292608" cy="292608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44968" y="3209544"/>
            <a:ext cx="1097280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Meeting
point</a:t>
            </a:r>
          </a:p>
        </p:txBody>
      </p:sp>
      <p:sp>
        <p:nvSpPr>
          <p:cNvPr id="45" name="Oval 44"/>
          <p:cNvSpPr/>
          <p:nvPr/>
        </p:nvSpPr>
        <p:spPr>
          <a:xfrm>
            <a:off x="9052560" y="2286000"/>
            <a:ext cx="182880" cy="182880"/>
          </a:xfrm>
          <a:prstGeom prst="ellipse">
            <a:avLst/>
          </a:prstGeom>
          <a:solidFill>
            <a:srgbClr val="7CA7B7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48672" y="3127248"/>
            <a:ext cx="182880" cy="182880"/>
          </a:xfrm>
          <a:prstGeom prst="ellipse">
            <a:avLst/>
          </a:prstGeom>
          <a:solidFill>
            <a:srgbClr val="7CA7B7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789920" y="2651760"/>
            <a:ext cx="256032" cy="256032"/>
          </a:xfrm>
          <a:prstGeom prst="ellipse">
            <a:avLst/>
          </a:prstGeom>
          <a:solidFill>
            <a:srgbClr val="6C8C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78440" y="3090672"/>
            <a:ext cx="1097280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Target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800600"/>
            <a:ext cx="5230368" cy="94183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3232" y="4983480"/>
            <a:ext cx="4937759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240" b="1">
                <a:solidFill>
                  <a:srgbClr val="EEF8FC"/>
                </a:solidFill>
                <a:latin typeface="Aptos"/>
              </a:rPr>
              <a:t>Waypoint Routes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349240"/>
            <a:ext cx="4937759" cy="26517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000" b="0">
                <a:solidFill>
                  <a:srgbClr val="A9C7D6"/>
                </a:solidFill>
                <a:latin typeface="Aptos"/>
              </a:rPr>
              <a:t>One shortest-path search per leg, then join segment paths. 7 legs across 4 cases.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80760" y="4800600"/>
            <a:ext cx="5513832" cy="941832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27064" y="4983480"/>
            <a:ext cx="5221224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240" b="1">
                <a:solidFill>
                  <a:srgbClr val="EEF8FC"/>
                </a:solidFill>
                <a:latin typeface="Aptos"/>
              </a:rPr>
              <a:t>Reuse &amp; Constraints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27064" y="5349240"/>
            <a:ext cx="5221224" cy="26517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000" b="0">
                <a:solidFill>
                  <a:srgbClr val="A9C7D6"/>
                </a:solidFill>
                <a:latin typeface="Aptos"/>
              </a:rPr>
              <a:t>Clear arrays between legs · positive weights only · no A* without node coordinates.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7_b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2600" b="1">
                <a:solidFill>
                  <a:srgbClr val="EEF8FC"/>
                </a:solidFill>
                <a:latin typeface="Aptos Display"/>
              </a:rPr>
              <a:t>Task B — Query Cases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7223760" cy="23774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140" b="0">
                <a:solidFill>
                  <a:srgbClr val="A9C7D6"/>
                </a:solidFill>
                <a:latin typeface="Aptos"/>
              </a:rPr>
              <a:t>Shortest-path query results with waypoint handling and search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91440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59168" cy="42519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292608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>
                <a:solidFill>
                  <a:srgbClr val="EEF8FC"/>
                </a:solidFill>
                <a:latin typeface="Aptos"/>
              </a:rPr>
              <a:t>Route Query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084831"/>
            <a:ext cx="749808" cy="512064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231136"/>
            <a:ext cx="694944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6192" y="2084831"/>
            <a:ext cx="3547872" cy="512064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63624" y="2231136"/>
            <a:ext cx="3493008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Visit Order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2084831"/>
            <a:ext cx="749808" cy="512064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11496" y="2231136"/>
            <a:ext cx="694944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Segments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3872" y="2084831"/>
            <a:ext cx="713232" cy="512064"/>
          </a:xfrm>
          <a:prstGeom prst="rect">
            <a:avLst/>
          </a:prstGeom>
          <a:solidFill>
            <a:srgbClr val="12334A"/>
          </a:solidFill>
          <a:ln>
            <a:solidFill>
              <a:srgbClr val="235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1304" y="2231136"/>
            <a:ext cx="658368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596896"/>
            <a:ext cx="749808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36192" y="2596896"/>
            <a:ext cx="3547872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72768" y="2743200"/>
            <a:ext cx="34747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00" b="1">
                <a:solidFill>
                  <a:srgbClr val="EEF8FC"/>
                </a:solidFill>
                <a:latin typeface="Aptos"/>
              </a:rPr>
              <a:t>L0001 → L0001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4064" y="2596896"/>
            <a:ext cx="749808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2743200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33872" y="2596896"/>
            <a:ext cx="713232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0448" y="2743200"/>
            <a:ext cx="640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3108960"/>
            <a:ext cx="749808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255264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6192" y="3108960"/>
            <a:ext cx="3547872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72768" y="3255264"/>
            <a:ext cx="34747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00" b="1">
                <a:solidFill>
                  <a:srgbClr val="EEF8FC"/>
                </a:solidFill>
                <a:latin typeface="Aptos"/>
              </a:rPr>
              <a:t>L0001 → L0010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4064" y="3108960"/>
            <a:ext cx="749808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3255264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33872" y="3108960"/>
            <a:ext cx="713232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0448" y="3255264"/>
            <a:ext cx="640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3621024"/>
            <a:ext cx="749808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767328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36192" y="3621024"/>
            <a:ext cx="3547872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72768" y="3767328"/>
            <a:ext cx="34747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00" b="1">
                <a:solidFill>
                  <a:srgbClr val="EEF8FC"/>
                </a:solidFill>
                <a:latin typeface="Aptos"/>
              </a:rPr>
              <a:t>L0001 → L0105 → L0101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4064" y="3621024"/>
            <a:ext cx="749808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0" y="3767328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33872" y="3621024"/>
            <a:ext cx="713232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70448" y="3767328"/>
            <a:ext cx="640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39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" y="4133087"/>
            <a:ext cx="749808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4279392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36192" y="4133087"/>
            <a:ext cx="3547872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72768" y="4279392"/>
            <a:ext cx="34747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00" b="1">
                <a:solidFill>
                  <a:srgbClr val="EEF8FC"/>
                </a:solidFill>
                <a:latin typeface="Aptos"/>
              </a:rPr>
              <a:t>L0001 → L0105 → L0205 → L0201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84064" y="4133087"/>
            <a:ext cx="749808" cy="512064"/>
          </a:xfrm>
          <a:prstGeom prst="rect">
            <a:avLst/>
          </a:prstGeom>
          <a:solidFill>
            <a:srgbClr val="0D2437"/>
          </a:solidFill>
          <a:ln>
            <a:solidFill>
              <a:srgbClr val="1E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20640" y="4279392"/>
            <a:ext cx="676656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0">
                <a:solidFill>
                  <a:srgbClr val="A9C7D6"/>
                </a:solidFill>
                <a:latin typeface="Aptos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33872" y="4133087"/>
            <a:ext cx="713232" cy="512064"/>
          </a:xfrm>
          <a:prstGeom prst="rect">
            <a:avLst/>
          </a:prstGeom>
          <a:solidFill>
            <a:srgbClr val="093746"/>
          </a:solidFill>
          <a:ln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70448" y="4279392"/>
            <a:ext cx="64008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919" b="1">
                <a:solidFill>
                  <a:srgbClr val="00D1FF"/>
                </a:solidFill>
                <a:latin typeface="Aptos"/>
              </a:rPr>
              <a:t>48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" y="4800600"/>
            <a:ext cx="2240280" cy="420624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7" y="4855464"/>
            <a:ext cx="2130552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80" b="1">
                <a:solidFill>
                  <a:srgbClr val="EEF8FC"/>
                </a:solidFill>
                <a:latin typeface="Aptos"/>
              </a:rPr>
              <a:t>7 segments · 1.228 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4882896"/>
            <a:ext cx="3749039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960" b="0">
                <a:solidFill>
                  <a:srgbClr val="A9C7D6"/>
                </a:solidFill>
                <a:latin typeface="Aptos"/>
              </a:rPr>
              <a:t>Case 2 uses the full graph, not only the Top 30 selected targets.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73568" y="1417320"/>
            <a:ext cx="3401568" cy="260604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9872" y="1618488"/>
            <a:ext cx="3108960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320" b="1">
                <a:solidFill>
                  <a:srgbClr val="EEF8FC"/>
                </a:solidFill>
                <a:latin typeface="Aptos"/>
              </a:rPr>
              <a:t>Case 4 Route Pattern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1956816"/>
            <a:ext cx="283464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960" b="0">
                <a:solidFill>
                  <a:srgbClr val="A9C7D6"/>
                </a:solidFill>
                <a:latin typeface="Aptos"/>
              </a:rPr>
              <a:t>Start → Waypoint 1 → Waypoint 2 → Destination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558784" y="3008376"/>
            <a:ext cx="585216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08592" y="3008376"/>
            <a:ext cx="640080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13264" y="3008376"/>
            <a:ext cx="621792" cy="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394192" y="2880360"/>
            <a:ext cx="256032" cy="256032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0" y="3172968"/>
            <a:ext cx="603504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L0001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74736" y="2587752"/>
            <a:ext cx="658368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A9C7D6"/>
                </a:solidFill>
                <a:latin typeface="Aptos"/>
              </a:rPr>
              <a:t>Start</a:t>
            </a:r>
          </a:p>
        </p:txBody>
      </p:sp>
      <p:sp>
        <p:nvSpPr>
          <p:cNvPr id="62" name="Oval 61"/>
          <p:cNvSpPr/>
          <p:nvPr/>
        </p:nvSpPr>
        <p:spPr>
          <a:xfrm>
            <a:off x="9144000" y="2880360"/>
            <a:ext cx="256032" cy="256032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79408" y="3172968"/>
            <a:ext cx="603504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L0105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24544" y="2587752"/>
            <a:ext cx="658368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A9C7D6"/>
                </a:solidFill>
                <a:latin typeface="Aptos"/>
              </a:rPr>
              <a:t>WP1</a:t>
            </a:r>
          </a:p>
        </p:txBody>
      </p:sp>
      <p:sp>
        <p:nvSpPr>
          <p:cNvPr id="65" name="Oval 64"/>
          <p:cNvSpPr/>
          <p:nvPr/>
        </p:nvSpPr>
        <p:spPr>
          <a:xfrm>
            <a:off x="9948672" y="2880360"/>
            <a:ext cx="256032" cy="256032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84080" y="3172968"/>
            <a:ext cx="603504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L0205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29216" y="2587752"/>
            <a:ext cx="658368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A9C7D6"/>
                </a:solidFill>
                <a:latin typeface="Aptos"/>
              </a:rPr>
              <a:t>WP2</a:t>
            </a:r>
          </a:p>
        </p:txBody>
      </p:sp>
      <p:sp>
        <p:nvSpPr>
          <p:cNvPr id="68" name="Oval 67"/>
          <p:cNvSpPr/>
          <p:nvPr/>
        </p:nvSpPr>
        <p:spPr>
          <a:xfrm>
            <a:off x="10735056" y="2880360"/>
            <a:ext cx="256032" cy="256032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570464" y="3172968"/>
            <a:ext cx="603504" cy="2011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60" b="1">
                <a:solidFill>
                  <a:srgbClr val="EEF8FC"/>
                </a:solidFill>
                <a:latin typeface="Aptos"/>
              </a:rPr>
              <a:t>L0201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2587752"/>
            <a:ext cx="658368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A9C7D6"/>
                </a:solidFill>
                <a:latin typeface="Aptos"/>
              </a:rPr>
              <a:t>Dest.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73568" y="4242816"/>
            <a:ext cx="3401568" cy="118872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119872" y="4425696"/>
            <a:ext cx="310896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260" b="1">
                <a:solidFill>
                  <a:srgbClr val="EEF8FC"/>
                </a:solidFill>
                <a:latin typeface="Aptos"/>
              </a:rPr>
              <a:t>Route Cost Breakdown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19872" y="4791455"/>
            <a:ext cx="3108960" cy="51206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080" b="0">
                <a:solidFill>
                  <a:srgbClr val="A9C7D6"/>
                </a:solidFill>
                <a:latin typeface="Aptos"/>
              </a:rPr>
              <a:t>Case 3: 22 + 17 = 39
Case 4: 22 + 18 + 8 = 48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22208" y="5687568"/>
            <a:ext cx="2286000" cy="384048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5742431"/>
            <a:ext cx="2176272" cy="2926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19" b="1">
                <a:solidFill>
                  <a:srgbClr val="EEF8FC"/>
                </a:solidFill>
                <a:latin typeface="Aptos"/>
              </a:rPr>
              <a:t>Full graph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8_b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04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8778240" cy="4572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2600" b="1">
                <a:solidFill>
                  <a:srgbClr val="EEF8FC"/>
                </a:solidFill>
                <a:latin typeface="Aptos Display"/>
              </a:rPr>
              <a:t>Task C — Application Architecture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7223760" cy="23774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140" b="0">
                <a:solidFill>
                  <a:srgbClr val="A9C7D6"/>
                </a:solidFill>
                <a:latin typeface="Aptos"/>
              </a:rPr>
              <a:t>Layered OOP design connects ranking, selection, graph construction, and 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91440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669280" cy="459028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23544" y="1655064"/>
            <a:ext cx="5376672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320" b="1" dirty="0">
                <a:solidFill>
                  <a:srgbClr val="EEF8FC"/>
                </a:solidFill>
                <a:latin typeface="Aptos"/>
              </a:rPr>
              <a:t>Layered Package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5074920" cy="17235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r>
              <a:rPr lang="en-US" altLang="zh-CN" sz="990" dirty="0">
                <a:solidFill>
                  <a:srgbClr val="A9C7D6"/>
                </a:solidFill>
                <a:latin typeface="Aptos"/>
              </a:rPr>
              <a:t>Each package has a clear responsibility and communicates through a clean data flow</a:t>
            </a:r>
            <a:r>
              <a:rPr lang="en-US" altLang="zh-CN" sz="1000" dirty="0"/>
              <a:t>.</a:t>
            </a:r>
            <a:endParaRPr sz="990" b="0" dirty="0">
              <a:solidFill>
                <a:srgbClr val="A9C7D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276856"/>
            <a:ext cx="1783080" cy="23391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Aptos"/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276856"/>
            <a:ext cx="2907792" cy="20313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0" dirty="0">
                <a:solidFill>
                  <a:srgbClr val="A9C7D6"/>
                </a:solidFill>
                <a:latin typeface="Aptos"/>
              </a:rPr>
              <a:t>app · </a:t>
            </a:r>
            <a:r>
              <a:rPr sz="1200" b="0" dirty="0" err="1">
                <a:solidFill>
                  <a:srgbClr val="A9C7D6"/>
                </a:solidFill>
                <a:latin typeface="Aptos"/>
              </a:rPr>
              <a:t>InspectionSystem.main</a:t>
            </a:r>
            <a:r>
              <a:rPr sz="1200" b="0" dirty="0">
                <a:solidFill>
                  <a:srgbClr val="A9C7D6"/>
                </a:solidFill>
                <a:latin typeface="Aptos"/>
              </a:rPr>
              <a:t>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734056"/>
            <a:ext cx="5074920" cy="411480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4" y="2798064"/>
            <a:ext cx="2197356" cy="23391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 dirty="0">
                <a:solidFill>
                  <a:srgbClr val="EEF8FC"/>
                </a:solidFill>
                <a:latin typeface="Aptos"/>
              </a:rPr>
              <a:t>Analysis / Workflow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3162" y="2798064"/>
            <a:ext cx="2806701" cy="20313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0" dirty="0">
                <a:solidFill>
                  <a:srgbClr val="A9C7D6"/>
                </a:solidFill>
                <a:latin typeface="Aptos"/>
              </a:rPr>
              <a:t>analysis · Task A runner / Task B runner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255264"/>
            <a:ext cx="5074920" cy="411480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5" y="3319272"/>
            <a:ext cx="1783080" cy="23391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 dirty="0">
                <a:solidFill>
                  <a:srgbClr val="EEF8FC"/>
                </a:solidFill>
                <a:latin typeface="Aptos"/>
              </a:rPr>
              <a:t>Algorithm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3319272"/>
            <a:ext cx="2907792" cy="20313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0" dirty="0">
                <a:solidFill>
                  <a:srgbClr val="A9C7D6"/>
                </a:solidFill>
                <a:latin typeface="Aptos"/>
              </a:rPr>
              <a:t>sorting · </a:t>
            </a:r>
            <a:r>
              <a:rPr sz="1200" b="0" dirty="0" err="1">
                <a:solidFill>
                  <a:srgbClr val="A9C7D6"/>
                </a:solidFill>
                <a:latin typeface="Aptos"/>
              </a:rPr>
              <a:t>BubbleSort</a:t>
            </a:r>
            <a:r>
              <a:rPr sz="1200" b="0" dirty="0">
                <a:solidFill>
                  <a:srgbClr val="A9C7D6"/>
                </a:solidFill>
                <a:latin typeface="Aptos"/>
              </a:rPr>
              <a:t> · </a:t>
            </a:r>
            <a:r>
              <a:rPr sz="1200" b="0" dirty="0" err="1">
                <a:solidFill>
                  <a:srgbClr val="A9C7D6"/>
                </a:solidFill>
                <a:latin typeface="Aptos"/>
              </a:rPr>
              <a:t>QuickSort</a:t>
            </a:r>
            <a:r>
              <a:rPr sz="1200" b="0" dirty="0">
                <a:solidFill>
                  <a:srgbClr val="A9C7D6"/>
                </a:solidFill>
                <a:latin typeface="Aptos"/>
              </a:rPr>
              <a:t> · </a:t>
            </a:r>
            <a:r>
              <a:rPr sz="1200" b="0" dirty="0" err="1">
                <a:solidFill>
                  <a:srgbClr val="A9C7D6"/>
                </a:solidFill>
                <a:latin typeface="Aptos"/>
              </a:rPr>
              <a:t>MergeSort</a:t>
            </a:r>
            <a:endParaRPr sz="1200" b="0" dirty="0">
              <a:solidFill>
                <a:srgbClr val="A9C7D6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8680" y="3776472"/>
            <a:ext cx="5074920" cy="411480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3840480"/>
            <a:ext cx="1783080" cy="23391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 dirty="0">
                <a:solidFill>
                  <a:srgbClr val="EEF8FC"/>
                </a:solidFill>
                <a:latin typeface="Aptos"/>
              </a:rPr>
              <a:t>Graph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3840480"/>
            <a:ext cx="2907792" cy="20313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0" dirty="0">
                <a:solidFill>
                  <a:srgbClr val="A9C7D6"/>
                </a:solidFill>
                <a:latin typeface="Aptos"/>
              </a:rPr>
              <a:t>graph · Dijkstra · </a:t>
            </a:r>
            <a:r>
              <a:rPr sz="1200" b="0" dirty="0" err="1">
                <a:solidFill>
                  <a:srgbClr val="A9C7D6"/>
                </a:solidFill>
                <a:latin typeface="Aptos"/>
              </a:rPr>
              <a:t>GraphIndex</a:t>
            </a:r>
            <a:endParaRPr sz="1200" b="0" dirty="0">
              <a:solidFill>
                <a:srgbClr val="A9C7D6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4297680"/>
            <a:ext cx="5074920" cy="411480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5" y="4361688"/>
            <a:ext cx="1783080" cy="23391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 dirty="0">
                <a:solidFill>
                  <a:srgbClr val="EEF8FC"/>
                </a:solidFill>
                <a:latin typeface="Aptos"/>
              </a:rPr>
              <a:t>IO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2072" y="4361688"/>
            <a:ext cx="2907792" cy="20313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0" dirty="0">
                <a:solidFill>
                  <a:srgbClr val="A9C7D6"/>
                </a:solidFill>
                <a:latin typeface="Aptos"/>
              </a:rPr>
              <a:t>io · CSV loaders / output writers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" y="4882896"/>
            <a:ext cx="1783080" cy="23391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400" b="1" dirty="0">
                <a:solidFill>
                  <a:srgbClr val="EEF8FC"/>
                </a:solidFill>
                <a:latin typeface="Aptos"/>
              </a:rPr>
              <a:t>Model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2072" y="4882896"/>
            <a:ext cx="2907792" cy="20313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r"/>
            <a:r>
              <a:rPr sz="1200" b="0" dirty="0">
                <a:solidFill>
                  <a:srgbClr val="A9C7D6"/>
                </a:solidFill>
                <a:latin typeface="Aptos"/>
              </a:rPr>
              <a:t>model · Location · Edge · Graph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1417320"/>
            <a:ext cx="4937760" cy="459028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27012" y="1618488"/>
            <a:ext cx="4645152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320" b="1" dirty="0">
                <a:solidFill>
                  <a:srgbClr val="EEF8FC"/>
                </a:solidFill>
                <a:latin typeface="Aptos"/>
              </a:rPr>
              <a:t>Data Model &amp; In-Memory Handoff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1920240"/>
            <a:ext cx="434340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990" b="0" dirty="0">
                <a:solidFill>
                  <a:srgbClr val="A9C7D6"/>
                </a:solidFill>
                <a:latin typeface="Aptos"/>
              </a:rPr>
              <a:t>A coherent OOP Java application, not isolated algorithm scripts.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2240280"/>
            <a:ext cx="1828800" cy="658368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7144" y="2295144"/>
            <a:ext cx="1719072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00" b="0">
                <a:solidFill>
                  <a:srgbClr val="EEF8FC"/>
                </a:solidFill>
                <a:latin typeface="Aptos"/>
              </a:rPr>
              <a:t>Location
location_id
priority_score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2240280"/>
            <a:ext cx="1828800" cy="658368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15984" y="2295144"/>
            <a:ext cx="1719072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00" b="0">
                <a:solidFill>
                  <a:srgbClr val="EEF8FC"/>
                </a:solidFill>
                <a:latin typeface="Aptos"/>
              </a:rPr>
              <a:t>Edge
from_location
to_location
weight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3273552"/>
            <a:ext cx="1828800" cy="658368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67144" y="3328416"/>
            <a:ext cx="1719072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00" b="0">
                <a:solidFill>
                  <a:srgbClr val="EEF8FC"/>
                </a:solidFill>
                <a:latin typeface="Aptos"/>
              </a:rPr>
              <a:t>Graph
nodes
weighted edges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3273552"/>
            <a:ext cx="1828800" cy="658368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15984" y="3328416"/>
            <a:ext cx="1719072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00" b="0">
                <a:solidFill>
                  <a:srgbClr val="EEF8FC"/>
                </a:solidFill>
                <a:latin typeface="Aptos"/>
              </a:rPr>
              <a:t>GraphIndex
fast neighbour
lookup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26679" y="2898648"/>
            <a:ext cx="0" cy="374904"/>
          </a:xfrm>
          <a:prstGeom prst="line">
            <a:avLst/>
          </a:prstGeom>
          <a:ln w="1524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75520" y="2898648"/>
            <a:ext cx="0" cy="374904"/>
          </a:xfrm>
          <a:prstGeom prst="line">
            <a:avLst/>
          </a:prstGeom>
          <a:ln w="1524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41080" y="3602736"/>
            <a:ext cx="320040" cy="0"/>
          </a:xfrm>
          <a:prstGeom prst="line">
            <a:avLst/>
          </a:prstGeom>
          <a:ln w="1524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12280" y="4297680"/>
            <a:ext cx="182880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150" b="1">
                <a:solidFill>
                  <a:srgbClr val="EEF8FC"/>
                </a:solidFill>
                <a:latin typeface="Aptos"/>
              </a:rPr>
              <a:t>In-Memory Handoff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4681728"/>
            <a:ext cx="1325880" cy="438912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67144" y="4736592"/>
            <a:ext cx="1216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EEF8FC"/>
                </a:solidFill>
                <a:latin typeface="Aptos"/>
              </a:rPr>
              <a:t>Task 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156448" y="4901184"/>
            <a:ext cx="438912" cy="0"/>
          </a:xfrm>
          <a:prstGeom prst="line">
            <a:avLst/>
          </a:prstGeom>
          <a:ln w="2032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613648" y="4681728"/>
            <a:ext cx="1371600" cy="438912"/>
          </a:xfrm>
          <a:prstGeom prst="roundRect">
            <a:avLst/>
          </a:prstGeom>
          <a:solidFill>
            <a:srgbClr val="093746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68512" y="4736592"/>
            <a:ext cx="126187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1">
                <a:solidFill>
                  <a:srgbClr val="EEF8FC"/>
                </a:solidFill>
                <a:latin typeface="Aptos"/>
              </a:rPr>
              <a:t>Location[3][10]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012680" y="4901184"/>
            <a:ext cx="393192" cy="0"/>
          </a:xfrm>
          <a:prstGeom prst="line">
            <a:avLst/>
          </a:prstGeom>
          <a:ln w="2032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0405872" y="4681728"/>
            <a:ext cx="749808" cy="438912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460736" y="4736592"/>
            <a:ext cx="64008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80" b="1">
                <a:solidFill>
                  <a:srgbClr val="EEF8FC"/>
                </a:solidFill>
                <a:latin typeface="Aptos"/>
              </a:rPr>
              <a:t>Task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5413248"/>
            <a:ext cx="4297680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969" b="0">
                <a:solidFill>
                  <a:srgbClr val="A9C7D6"/>
                </a:solidFill>
                <a:latin typeface="Aptos"/>
              </a:rPr>
              <a:t>Task A produces selected targets; Task B consumes them for routing.</a:t>
            </a:r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9DF88A44-C07C-0CB2-C4A9-194F825544B9}"/>
              </a:ext>
            </a:extLst>
          </p:cNvPr>
          <p:cNvSpPr/>
          <p:nvPr/>
        </p:nvSpPr>
        <p:spPr>
          <a:xfrm>
            <a:off x="868680" y="4847964"/>
            <a:ext cx="5074920" cy="411480"/>
          </a:xfrm>
          <a:prstGeom prst="roundRect">
            <a:avLst/>
          </a:prstGeom>
          <a:noFill/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36AA87AE-C024-4E6E-0583-D4DF2C896675}"/>
              </a:ext>
            </a:extLst>
          </p:cNvPr>
          <p:cNvSpPr/>
          <p:nvPr/>
        </p:nvSpPr>
        <p:spPr>
          <a:xfrm>
            <a:off x="864108" y="2197021"/>
            <a:ext cx="5074920" cy="411480"/>
          </a:xfrm>
          <a:prstGeom prst="roundRect">
            <a:avLst/>
          </a:prstGeom>
          <a:noFill/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905256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600" b="1">
                <a:solidFill>
                  <a:srgbClr val="EEF8FC"/>
                </a:solidFill>
                <a:latin typeface="Aptos Display"/>
              </a:rPr>
              <a:t>Task C — Object-Oriented Design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68680"/>
            <a:ext cx="71323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30" b="0">
                <a:solidFill>
                  <a:srgbClr val="A9C7D6"/>
                </a:solidFill>
                <a:latin typeface="Aptos"/>
              </a:rPr>
              <a:t>Clean architecture shows how OOP principles are applied in the Java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33888" y="62179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44752"/>
            <a:ext cx="3840480" cy="44074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36776"/>
            <a:ext cx="3547872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EF8FC"/>
                </a:solidFill>
                <a:latin typeface="Aptos"/>
              </a:rPr>
              <a:t>OOP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1901952"/>
            <a:ext cx="1417320" cy="420624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947672"/>
            <a:ext cx="132588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40" b="1">
                <a:solidFill>
                  <a:srgbClr val="EEF8FC"/>
                </a:solidFill>
                <a:latin typeface="Aptos"/>
              </a:rPr>
              <a:t>Encapsulation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56816"/>
            <a:ext cx="182880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40" b="0">
                <a:solidFill>
                  <a:srgbClr val="A9C7D6"/>
                </a:solidFill>
                <a:latin typeface="Aptos"/>
              </a:rPr>
              <a:t>Location and Edge keep data and comparison logic clear.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2615184"/>
            <a:ext cx="1417320" cy="420624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660904"/>
            <a:ext cx="132588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40" b="1">
                <a:solidFill>
                  <a:srgbClr val="EEF8FC"/>
                </a:solidFill>
                <a:latin typeface="Aptos"/>
              </a:rPr>
              <a:t>SRP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70048"/>
            <a:ext cx="182880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40" b="0">
                <a:solidFill>
                  <a:srgbClr val="A9C7D6"/>
                </a:solidFill>
                <a:latin typeface="Aptos"/>
              </a:rPr>
              <a:t>Each class focuses on one responsibility.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328416"/>
            <a:ext cx="1417320" cy="420624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374136"/>
            <a:ext cx="132588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40" b="1">
                <a:solidFill>
                  <a:srgbClr val="EEF8FC"/>
                </a:solidFill>
                <a:latin typeface="Aptos"/>
              </a:rPr>
              <a:t>Comparable&lt;Location&gt;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383280"/>
            <a:ext cx="182880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40" b="0">
                <a:solidFill>
                  <a:srgbClr val="A9C7D6"/>
                </a:solidFill>
                <a:latin typeface="Aptos"/>
              </a:rPr>
              <a:t>A shared ranking rule supports consistent sorting.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041648"/>
            <a:ext cx="1417320" cy="420624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4087368"/>
            <a:ext cx="132588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40" b="1">
                <a:solidFill>
                  <a:srgbClr val="EEF8FC"/>
                </a:solidFill>
                <a:latin typeface="Aptos"/>
              </a:rPr>
              <a:t>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096511"/>
            <a:ext cx="182880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40" b="0">
                <a:solidFill>
                  <a:srgbClr val="A9C7D6"/>
                </a:solidFill>
                <a:latin typeface="Aptos"/>
              </a:rPr>
              <a:t>InspectionSystem wires components instead of deep inheritance.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754880"/>
            <a:ext cx="1417320" cy="420624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800600"/>
            <a:ext cx="132588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40" b="1">
                <a:solidFill>
                  <a:srgbClr val="EEF8FC"/>
                </a:solidFill>
                <a:latin typeface="Aptos"/>
              </a:rPr>
              <a:t>Utility Loaders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809744"/>
            <a:ext cx="1828800" cy="301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40" b="0">
                <a:solidFill>
                  <a:srgbClr val="A9C7D6"/>
                </a:solidFill>
                <a:latin typeface="Aptos"/>
              </a:rPr>
              <a:t>CSV loading is separated from algorithm logic.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1444752"/>
            <a:ext cx="3337560" cy="44074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2" y="1636776"/>
            <a:ext cx="3044952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EF8FC"/>
                </a:solidFill>
                <a:latin typeface="Aptos"/>
              </a:rPr>
              <a:t>Workflow Orchestration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9360" y="2450591"/>
            <a:ext cx="0" cy="301753"/>
          </a:xfrm>
          <a:prstGeom prst="line">
            <a:avLst/>
          </a:prstGeom>
          <a:ln w="2032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9360" y="3172968"/>
            <a:ext cx="0" cy="301752"/>
          </a:xfrm>
          <a:prstGeom prst="line">
            <a:avLst/>
          </a:prstGeom>
          <a:ln w="2032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3895344"/>
            <a:ext cx="0" cy="301752"/>
          </a:xfrm>
          <a:prstGeom prst="line">
            <a:avLst/>
          </a:prstGeom>
          <a:ln w="2032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03520" y="2066543"/>
            <a:ext cx="2011680" cy="42062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49240" y="2112263"/>
            <a:ext cx="192024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InspectionSystem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2788920"/>
            <a:ext cx="1737360" cy="42062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0" y="2834639"/>
            <a:ext cx="1645919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Task A Runner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3511296"/>
            <a:ext cx="2011680" cy="420624"/>
          </a:xfrm>
          <a:prstGeom prst="roundRect">
            <a:avLst/>
          </a:prstGeom>
          <a:solidFill>
            <a:srgbClr val="093746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57015"/>
            <a:ext cx="192024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Location[3][10]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40680" y="4233672"/>
            <a:ext cx="1737360" cy="420624"/>
          </a:xfrm>
          <a:prstGeom prst="roundRect">
            <a:avLst/>
          </a:prstGeom>
          <a:solidFill>
            <a:srgbClr val="0A2B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0" y="4279392"/>
            <a:ext cx="1645919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40" b="1">
                <a:solidFill>
                  <a:srgbClr val="EEF8FC"/>
                </a:solidFill>
                <a:latin typeface="Aptos"/>
              </a:rPr>
              <a:t>Task B Runner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92624" y="5001768"/>
            <a:ext cx="2670048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19" b="1">
                <a:solidFill>
                  <a:srgbClr val="18C6C8"/>
                </a:solidFill>
                <a:latin typeface="Aptos"/>
              </a:rPr>
              <a:t>Runners orchestrate workflows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2" y="1444752"/>
            <a:ext cx="2971800" cy="44074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2C7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49056" y="1636776"/>
            <a:ext cx="2679192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EF8FC"/>
                </a:solidFill>
                <a:latin typeface="Aptos"/>
              </a:rPr>
              <a:t>Design Benefits</a:t>
            </a:r>
          </a:p>
        </p:txBody>
      </p:sp>
      <p:sp>
        <p:nvSpPr>
          <p:cNvPr id="45" name="Oval 44"/>
          <p:cNvSpPr/>
          <p:nvPr/>
        </p:nvSpPr>
        <p:spPr>
          <a:xfrm>
            <a:off x="8577072" y="1993392"/>
            <a:ext cx="146304" cy="146304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51392" y="1975104"/>
            <a:ext cx="199339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69" b="1">
                <a:solidFill>
                  <a:srgbClr val="EEF8FC"/>
                </a:solidFill>
                <a:latin typeface="Aptos"/>
              </a:rPr>
              <a:t>Cleaner code structure</a:t>
            </a:r>
          </a:p>
        </p:txBody>
      </p:sp>
      <p:sp>
        <p:nvSpPr>
          <p:cNvPr id="47" name="Oval 46"/>
          <p:cNvSpPr/>
          <p:nvPr/>
        </p:nvSpPr>
        <p:spPr>
          <a:xfrm>
            <a:off x="8577072" y="2615184"/>
            <a:ext cx="146304" cy="146304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51392" y="2596896"/>
            <a:ext cx="199339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69" b="0">
                <a:solidFill>
                  <a:srgbClr val="A9C7D6"/>
                </a:solidFill>
                <a:latin typeface="Aptos"/>
              </a:rPr>
              <a:t>Easier debugging</a:t>
            </a:r>
          </a:p>
        </p:txBody>
      </p:sp>
      <p:sp>
        <p:nvSpPr>
          <p:cNvPr id="49" name="Oval 48"/>
          <p:cNvSpPr/>
          <p:nvPr/>
        </p:nvSpPr>
        <p:spPr>
          <a:xfrm>
            <a:off x="8577072" y="3236976"/>
            <a:ext cx="146304" cy="146304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51392" y="3218688"/>
            <a:ext cx="199339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69" b="0">
                <a:solidFill>
                  <a:srgbClr val="A9C7D6"/>
                </a:solidFill>
                <a:latin typeface="Aptos"/>
              </a:rPr>
              <a:t>Reusable algorithms</a:t>
            </a:r>
          </a:p>
        </p:txBody>
      </p:sp>
      <p:sp>
        <p:nvSpPr>
          <p:cNvPr id="51" name="Oval 50"/>
          <p:cNvSpPr/>
          <p:nvPr/>
        </p:nvSpPr>
        <p:spPr>
          <a:xfrm>
            <a:off x="8577072" y="3858768"/>
            <a:ext cx="146304" cy="146304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51392" y="3840480"/>
            <a:ext cx="199339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69" b="0">
                <a:solidFill>
                  <a:srgbClr val="A9C7D6"/>
                </a:solidFill>
                <a:latin typeface="Aptos"/>
              </a:rPr>
              <a:t>Lower module coupling</a:t>
            </a:r>
          </a:p>
        </p:txBody>
      </p:sp>
      <p:sp>
        <p:nvSpPr>
          <p:cNvPr id="53" name="Oval 52"/>
          <p:cNvSpPr/>
          <p:nvPr/>
        </p:nvSpPr>
        <p:spPr>
          <a:xfrm>
            <a:off x="8577072" y="4480560"/>
            <a:ext cx="146304" cy="146304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51392" y="4462272"/>
            <a:ext cx="1993392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69" b="1">
                <a:solidFill>
                  <a:srgbClr val="EEF8FC"/>
                </a:solidFill>
                <a:latin typeface="Aptos"/>
              </a:rPr>
              <a:t>Clear Task A → Task B integration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5248656"/>
            <a:ext cx="2240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18C6C8"/>
                </a:solidFill>
                <a:latin typeface="Aptos"/>
              </a:rPr>
              <a:t>Model layer has no upward dependencies.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6062472"/>
            <a:ext cx="78638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19" b="0">
                <a:solidFill>
                  <a:srgbClr val="A9C7D6"/>
                </a:solidFill>
                <a:latin typeface="Aptos"/>
              </a:rPr>
              <a:t>The implementation is a structured OOP Java application, not a collection of isolated algorithm scripts.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905256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600" b="1">
                <a:solidFill>
                  <a:srgbClr val="EEF8FC"/>
                </a:solidFill>
                <a:latin typeface="Aptos Display"/>
              </a:rPr>
              <a:t>Project Reflection — Teamwork &amp; EDI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68680"/>
            <a:ext cx="71323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30" b="0">
                <a:solidFill>
                  <a:srgbClr val="A9C7D6"/>
                </a:solidFill>
                <a:latin typeface="Aptos"/>
              </a:rPr>
              <a:t>Planning, collaboration, fair contribution, challenges, and future improvement.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88720"/>
            <a:ext cx="155448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33888" y="62179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9344" y="3310128"/>
            <a:ext cx="1938527" cy="0"/>
          </a:xfrm>
          <a:prstGeom prst="line">
            <a:avLst/>
          </a:prstGeom>
          <a:ln w="1778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50207" y="3310128"/>
            <a:ext cx="1938529" cy="0"/>
          </a:xfrm>
          <a:prstGeom prst="line">
            <a:avLst/>
          </a:prstGeom>
          <a:ln w="1778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91072" y="3310128"/>
            <a:ext cx="1938528" cy="0"/>
          </a:xfrm>
          <a:prstGeom prst="line">
            <a:avLst/>
          </a:prstGeom>
          <a:ln w="1778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31936" y="3310128"/>
            <a:ext cx="1938527" cy="0"/>
          </a:xfrm>
          <a:prstGeom prst="line">
            <a:avLst/>
          </a:prstGeom>
          <a:ln w="1778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2336" y="1874519"/>
            <a:ext cx="2011680" cy="30358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48255"/>
            <a:ext cx="17190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EF8FC"/>
                </a:solidFill>
                <a:latin typeface="Aptos"/>
              </a:rPr>
              <a:t>01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04872"/>
            <a:ext cx="1719072" cy="241401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50" b="0">
                <a:solidFill>
                  <a:srgbClr val="A9C7D6"/>
                </a:solidFill>
                <a:latin typeface="Aptos"/>
              </a:rPr>
              <a:t>Split Task A sorting
and Task B routing early.
Stored demo outputs
in output/ for checking.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1874519"/>
            <a:ext cx="2011680" cy="30358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9504" y="2048255"/>
            <a:ext cx="17190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EF8FC"/>
                </a:solidFill>
                <a:latin typeface="Aptos"/>
              </a:rPr>
              <a:t>02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2404872"/>
            <a:ext cx="1719072" cy="241401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50" b="0">
                <a:solidFill>
                  <a:srgbClr val="A9C7D6"/>
                </a:solidFill>
                <a:latin typeface="Aptos"/>
              </a:rPr>
              <a:t>Git + IntelliJ throughout.
Peer code review before
submission.
Joint debugging for
Cases 3–4.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4064" y="1874519"/>
            <a:ext cx="2011680" cy="30358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7C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30368" y="2048255"/>
            <a:ext cx="17190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EF8FC"/>
                </a:solidFill>
                <a:latin typeface="Aptos"/>
              </a:rPr>
              <a:t>03 EDI &amp;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404872"/>
            <a:ext cx="1719072" cy="241401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50" b="0">
                <a:solidFill>
                  <a:srgbClr val="A9C7D6"/>
                </a:solidFill>
                <a:latin typeface="Aptos"/>
              </a:rPr>
              <a:t>Fair 50/50 target.
Both students on camera.
Shared speaking time
and clear credit.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874519"/>
            <a:ext cx="2011680" cy="30358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FF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71231" y="2048255"/>
            <a:ext cx="17190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EF8FC"/>
                </a:solidFill>
                <a:latin typeface="Aptos"/>
              </a:rPr>
              <a:t>04 Challenges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2404872"/>
            <a:ext cx="1719072" cy="241401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50" b="0">
                <a:solidFill>
                  <a:srgbClr val="A9C7D6"/>
                </a:solidFill>
                <a:latin typeface="Aptos"/>
              </a:rPr>
              <a:t>Quick Sort pivot.
Waypoint order followed
specification.
GraphIndex tuned for
seven fast searches.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65792" y="1874519"/>
            <a:ext cx="2011680" cy="3035808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12096" y="2048255"/>
            <a:ext cx="17190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EF8FC"/>
                </a:solidFill>
                <a:latin typeface="Aptos"/>
              </a:rPr>
              <a:t>05 Future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2404872"/>
            <a:ext cx="1719072" cy="241401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50" b="0">
                <a:solidFill>
                  <a:srgbClr val="A9C7D6"/>
                </a:solidFill>
                <a:latin typeface="Aptos"/>
              </a:rPr>
              <a:t>Use Merge Sort for
larger datasets.
Improve pivot strategy.
Update GraphIndex when
graph changes.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413248"/>
            <a:ext cx="100126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00" b="0">
                <a:solidFill>
                  <a:srgbClr val="A9C7D6"/>
                </a:solidFill>
                <a:latin typeface="Aptos"/>
              </a:rPr>
              <a:t>A balanced team workflow supported both technical correctness and fair contribution.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10896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500" b="1">
                <a:solidFill>
                  <a:srgbClr val="EEF8FC"/>
                </a:solidFill>
                <a:latin typeface="Aptos Display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1417320" cy="45720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4754880" cy="8229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19" y="1737360"/>
            <a:ext cx="4608576" cy="41148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37944"/>
            <a:ext cx="44622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Task A — Sorting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4462272" cy="20116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40" b="0">
                <a:solidFill>
                  <a:srgbClr val="A9C7D6"/>
                </a:solidFill>
                <a:latin typeface="Aptos"/>
              </a:rPr>
              <a:t>Evaluated Bubble, Quick, and Merge Sort.
Selected Top 10 targets from each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61488"/>
            <a:ext cx="4754880" cy="8229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19" y="2834640"/>
            <a:ext cx="4608576" cy="41148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935224"/>
            <a:ext cx="44622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Task B — Graph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91840"/>
            <a:ext cx="4462272" cy="20116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40" b="0">
                <a:solidFill>
                  <a:srgbClr val="A9C7D6"/>
                </a:solidFill>
                <a:latin typeface="Aptos"/>
              </a:rPr>
              <a:t>Built the weighted graph from paths.csv.
Solved required shortest-path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58768"/>
            <a:ext cx="4754880" cy="822960"/>
          </a:xfrm>
          <a:prstGeom prst="roundRect">
            <a:avLst/>
          </a:prstGeom>
          <a:solidFill>
            <a:srgbClr val="0E263A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19" y="3931920"/>
            <a:ext cx="4608576" cy="41148"/>
          </a:xfrm>
          <a:prstGeom prst="rect">
            <a:avLst/>
          </a:prstGeom>
          <a:solidFill>
            <a:srgbClr val="18C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032504"/>
            <a:ext cx="4462272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220" b="1">
                <a:solidFill>
                  <a:srgbClr val="EEF8FC"/>
                </a:solidFill>
                <a:latin typeface="Aptos"/>
              </a:rPr>
              <a:t>Task C — OOP &amp; Reflection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89120"/>
            <a:ext cx="4462272" cy="20116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40" b="0">
                <a:solidFill>
                  <a:srgbClr val="A9C7D6"/>
                </a:solidFill>
                <a:latin typeface="Aptos"/>
              </a:rPr>
              <a:t>Integrated ranking and routing in an OOP Java system.
Reflected on teamwork, EDI, and future improvement.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263640" y="4526280"/>
            <a:ext cx="822960" cy="457200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86600" y="4526280"/>
            <a:ext cx="868679" cy="429768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955279" y="4133087"/>
            <a:ext cx="914401" cy="822961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9680" y="4133087"/>
            <a:ext cx="960120" cy="384049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29800" y="3749039"/>
            <a:ext cx="914400" cy="768097"/>
          </a:xfrm>
          <a:prstGeom prst="line">
            <a:avLst/>
          </a:prstGeom>
          <a:ln w="25400">
            <a:solidFill>
              <a:srgbClr val="18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172200" y="4892040"/>
            <a:ext cx="182880" cy="182880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95160" y="4434840"/>
            <a:ext cx="182880" cy="182880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863840" y="4864608"/>
            <a:ext cx="182880" cy="182880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0" y="4041648"/>
            <a:ext cx="182880" cy="182880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738360" y="4425696"/>
            <a:ext cx="182880" cy="182880"/>
          </a:xfrm>
          <a:prstGeom prst="ellipse">
            <a:avLst/>
          </a:prstGeom>
          <a:solidFill>
            <a:srgbClr val="7CE7D8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652760" y="3657599"/>
            <a:ext cx="182880" cy="182880"/>
          </a:xfrm>
          <a:prstGeom prst="ellipse">
            <a:avLst/>
          </a:prstGeom>
          <a:solidFill>
            <a:srgbClr val="00D1FF"/>
          </a:solidFill>
          <a:ln>
            <a:solidFill>
              <a:srgbClr val="DC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64040" y="3154680"/>
            <a:ext cx="1847088" cy="402336"/>
          </a:xfrm>
          <a:prstGeom prst="roundRect">
            <a:avLst/>
          </a:prstGeom>
          <a:solidFill>
            <a:srgbClr val="092D3C"/>
          </a:solidFill>
          <a:ln w="12700">
            <a:solidFill>
              <a:srgbClr val="18C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0" y="3200400"/>
            <a:ext cx="1755648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EEF8FC"/>
                </a:solidFill>
                <a:latin typeface="Aptos"/>
              </a:rPr>
              <a:t>Route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783080"/>
            <a:ext cx="4663440" cy="7498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4400" b="1">
                <a:solidFill>
                  <a:srgbClr val="EEF8FC"/>
                </a:solidFill>
                <a:latin typeface="Aptos Display"/>
              </a:rPr>
              <a:t>Thank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3888" y="621792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200" b="1">
                <a:solidFill>
                  <a:srgbClr val="18C6C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1324</Words>
  <Application>Microsoft Office PowerPoint</Application>
  <PresentationFormat>宽屏</PresentationFormat>
  <Paragraphs>255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程源昊</dc:creator>
  <cp:keywords/>
  <dc:description>generated using python-pptx</dc:description>
  <cp:lastModifiedBy>源昊 程</cp:lastModifiedBy>
  <cp:revision>7</cp:revision>
  <dcterms:created xsi:type="dcterms:W3CDTF">2013-01-27T09:14:16Z</dcterms:created>
  <dcterms:modified xsi:type="dcterms:W3CDTF">2026-05-21T10:57:40Z</dcterms:modified>
  <cp:category/>
</cp:coreProperties>
</file>